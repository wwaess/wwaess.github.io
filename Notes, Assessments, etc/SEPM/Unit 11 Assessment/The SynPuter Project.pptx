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61" r:id="rId2"/>
    <p:sldId id="274" r:id="rId3"/>
    <p:sldId id="257" r:id="rId4"/>
    <p:sldId id="273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72" r:id="rId14"/>
    <p:sldId id="275" r:id="rId15"/>
    <p:sldId id="276" r:id="rId16"/>
    <p:sldId id="277" r:id="rId17"/>
    <p:sldId id="278" r:id="rId18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7FFD"/>
    <a:srgbClr val="89FF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76" autoAdjust="0"/>
    <p:restoredTop sz="94706" autoAdjust="0"/>
  </p:normalViewPr>
  <p:slideViewPr>
    <p:cSldViewPr snapToGrid="0">
      <p:cViewPr varScale="1">
        <p:scale>
          <a:sx n="159" d="100"/>
          <a:sy n="159" d="100"/>
        </p:scale>
        <p:origin x="168" y="31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28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FEEA889-5E66-4BC1-B7BD-0A476A3FD4CF}" type="datetime1">
              <a:rPr lang="en-GB" smtClean="0"/>
              <a:t>25/01/2026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604A0D4-B89B-4ADD-AF9E-38636B40EE4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243557F-8383-4C87-B4A4-5F88E99CF0DF}" type="datetime1">
              <a:rPr lang="en-GB" noProof="0" smtClean="0"/>
              <a:t>25/01/2026</a:t>
            </a:fld>
            <a:endParaRPr lang="en-GB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2869989-EB00-4EE7-BCB5-25BDC5BB29F8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2869989-EB00-4EE7-BCB5-25BDC5BB29F8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9514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7D3C6-1CE3-2736-A6E3-C985827E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27508-9844-1ACD-CD69-58D17E518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3271E6-2B2C-AAB5-5E46-D8E8F707A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E615C-7BD8-138E-31AC-4A851217B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2869989-EB00-4EE7-BCB5-25BDC5BB29F8}" type="slidenum">
              <a:rPr lang="en-GB" noProof="0" smtClean="0"/>
              <a:t>4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4125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964EF-6D23-100D-FF8D-9F3553B27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4F700-B9B1-5EA0-B290-2FA13E6EA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392191-097B-2466-B6E7-1DBF24ACC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9B0F5-C9F4-3DD9-1A02-4763A5C0B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2869989-EB00-4EE7-BCB5-25BDC5BB29F8}" type="slidenum">
              <a:rPr lang="en-GB" noProof="0" smtClean="0"/>
              <a:t>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48198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0EE84-7D70-7F35-BA6D-4F288B6C0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EBAD91-34A6-6D03-7E36-46BF4820C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FFEB5-1FF0-232D-368A-9BD87B887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B3DEE-EC56-45C5-08C2-B91985A26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2869989-EB00-4EE7-BCB5-25BDC5BB29F8}" type="slidenum">
              <a:rPr lang="en-GB" noProof="0" smtClean="0"/>
              <a:t>6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20885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F7A50-81EA-DD49-2C86-29894BE41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3E9C12-7240-CE4D-000E-78EED79F1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ADEC2-E17D-0814-AB81-639F09C3B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22119-17FC-AF4C-A94E-35716B8AF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2869989-EB00-4EE7-BCB5-25BDC5BB29F8}" type="slidenum">
              <a:rPr lang="en-GB" noProof="0" smtClean="0"/>
              <a:t>7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83908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39D46-86A3-ABB0-B2F3-C99954998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793363-A878-32E6-5C98-028A671CC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CFB3B1-0EAD-6E9A-6C2D-B618B8B3D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8D340-55C5-E705-D119-70C9386E5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2869989-EB00-4EE7-BCB5-25BDC5BB29F8}" type="slidenum">
              <a:rPr lang="en-GB" noProof="0" smtClean="0"/>
              <a:t>8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22441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BFDF1-8E94-3557-439F-DEBFE828C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E9776-DF75-1F3B-C8CA-CDE83E20A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75859-8953-E41E-1705-D75EC4FC7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DA4DE-CCD9-81BE-4CE5-E2BE834F17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2869989-EB00-4EE7-BCB5-25BDC5BB29F8}" type="slidenum">
              <a:rPr lang="en-GB" noProof="0" smtClean="0"/>
              <a:t>9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808834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67C6F-609B-29BE-30BD-C54730F9C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E8FF79-8C30-92C7-5E03-A45B845C7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E9A70-FA23-EC01-5F13-28CDF742D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34287-805C-AB7F-12F9-A3AAB4411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2869989-EB00-4EE7-BCB5-25BDC5BB29F8}" type="slidenum">
              <a:rPr lang="en-GB" noProof="0" smtClean="0"/>
              <a:t>10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39354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EB09E-8E37-0A74-D854-9A5B9C8D5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8FC02-0763-4B38-AB38-C227CC974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3FE166-6EA6-E95D-1416-3C9D5F719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5469C-E640-B121-C0D8-68AD9F755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2869989-EB00-4EE7-BCB5-25BDC5BB29F8}" type="slidenum">
              <a:rPr lang="en-GB" noProof="0" smtClean="0"/>
              <a:t>11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812581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08CBB-1B2A-E3A0-4409-A7B1DEE77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C130C-367C-BC73-94B1-DA5DC058A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76DE05-C5DB-A527-05D7-B596EEC32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B20A3-372C-A081-E59D-24355F55F3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2869989-EB00-4EE7-BCB5-25BDC5BB29F8}" type="slidenum">
              <a:rPr lang="en-GB" noProof="0" smtClean="0"/>
              <a:t>12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70847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C8FC3-C85B-500D-79C5-9C85CDC1E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DCA59B-4CFE-13A9-30BA-4763614721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24F88E-963D-AB13-85D4-64653D731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4B906-9083-B719-EE27-987BF7AA8B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2869989-EB00-4EE7-BCB5-25BDC5BB29F8}" type="slidenum">
              <a:rPr lang="en-GB" noProof="0" smtClean="0"/>
              <a:t>13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3037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rtlCol="0"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 dirty="0"/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487C83-D9AD-4A8B-A900-076F8D042560}" type="datetime1">
              <a:rPr lang="en-GB" noProof="0" smtClean="0"/>
              <a:t>25/01/2026</a:t>
            </a:fld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rtlCol="0"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C8220F6-FAAE-4224-A840-32140F4A0A47}" type="datetime1">
              <a:rPr lang="en-GB" noProof="0" smtClean="0"/>
              <a:t>25/01/2026</a:t>
            </a:fld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5DA6CF-190C-4EAB-84DD-7741FDE41517}" type="datetime1">
              <a:rPr lang="en-GB" noProof="0" smtClean="0"/>
              <a:t>25/01/2026</a:t>
            </a:fld>
            <a:endParaRPr lang="en-GB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FEFFCF-A8B9-4FC4-BA80-DD4C12F4B668}" type="datetime1">
              <a:rPr lang="en-GB" noProof="0" smtClean="0"/>
              <a:t>25/01/2026</a:t>
            </a:fld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D2618C-E36A-4509-A283-71164552E4F6}" type="datetime1">
              <a:rPr lang="en-GB" noProof="0" smtClean="0"/>
              <a:t>25/01/2026</a:t>
            </a:fld>
            <a:endParaRPr lang="en-GB" noProof="0" dirty="0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rtlCol="0"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5D239C74-3E29-46D2-B7E2-D66DE8B187F2}" type="datetime1">
              <a:rPr lang="en-GB" noProof="0" smtClean="0"/>
              <a:t>25/01/2026</a:t>
            </a:fld>
            <a:endParaRPr lang="en-GB" noProof="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E31375A4-56A4-47D6-9801-1991572033F7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rtlCol="0"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 rtlCol="0"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F590DC-7091-4B36-BBC5-F8475EAC8F1C}" type="datetime1">
              <a:rPr lang="en-GB" noProof="0" smtClean="0"/>
              <a:t>25/01/2026</a:t>
            </a:fld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B00BEA-F07C-4881-A3EB-166920C22A46}" type="datetime1">
              <a:rPr lang="en-GB" noProof="0" smtClean="0"/>
              <a:t>25/01/2026</a:t>
            </a:fld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fld id="{9B488204-FD96-4CE5-BFDC-EA94C1CD269E}" type="datetime1">
              <a:rPr lang="en-GB" noProof="0" smtClean="0"/>
              <a:t>25/01/2026</a:t>
            </a:fld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fld id="{E31375A4-56A4-47D6-9801-1991572033F7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GB" sz="7200" dirty="0"/>
              <a:t>The SynPuter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GB" dirty="0"/>
              <a:t>Status Update + Mitigation Plan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FF3771-E9AC-9D84-07DA-43590F60BB7B}"/>
              </a:ext>
            </a:extLst>
          </p:cNvPr>
          <p:cNvSpPr txBox="1"/>
          <p:nvPr/>
        </p:nvSpPr>
        <p:spPr>
          <a:xfrm>
            <a:off x="9966477" y="6410477"/>
            <a:ext cx="2143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Tahmeed Waes Ali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379FE-D870-E09D-2892-BB5FD76E3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Progress per current plan: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EDF7ED-955E-53BD-882D-1718E6447F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63"/>
          <a:stretch>
            <a:fillRect/>
          </a:stretch>
        </p:blipFill>
        <p:spPr>
          <a:xfrm>
            <a:off x="1295400" y="1757215"/>
            <a:ext cx="9601200" cy="273746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FA1A66-C348-101D-9B7B-0EC1AF456F71}"/>
              </a:ext>
            </a:extLst>
          </p:cNvPr>
          <p:cNvCxnSpPr>
            <a:cxnSpLocks/>
          </p:cNvCxnSpPr>
          <p:nvPr/>
        </p:nvCxnSpPr>
        <p:spPr>
          <a:xfrm flipV="1">
            <a:off x="8334375" y="2228850"/>
            <a:ext cx="0" cy="2158365"/>
          </a:xfrm>
          <a:prstGeom prst="line">
            <a:avLst/>
          </a:prstGeom>
          <a:ln>
            <a:solidFill>
              <a:schemeClr val="accent6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750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Current Designs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93B66B-2E56-146C-4456-872A5CD74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049" y="1646238"/>
            <a:ext cx="4299529" cy="445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D3C42-C3CD-3BCA-5C46-338F72449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87832-4EE9-EA43-D2CA-DBEFE60CF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EDC’s requirements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67348-E7D2-72D1-36DA-B9B6A2981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399" y="1841327"/>
            <a:ext cx="8863209" cy="3949874"/>
          </a:xfrm>
        </p:spPr>
        <p:txBody>
          <a:bodyPr>
            <a:normAutofit/>
          </a:bodyPr>
          <a:lstStyle/>
          <a:p>
            <a:r>
              <a:rPr lang="en-GB" dirty="0"/>
              <a:t>Industry-standard operating system</a:t>
            </a:r>
          </a:p>
          <a:p>
            <a:r>
              <a:rPr lang="en-GB" dirty="0"/>
              <a:t>External keyboard / connector</a:t>
            </a:r>
          </a:p>
          <a:p>
            <a:r>
              <a:rPr lang="en-GB" dirty="0"/>
              <a:t>At least 512 kB of RAM</a:t>
            </a:r>
          </a:p>
          <a:p>
            <a:r>
              <a:rPr lang="en-GB" dirty="0"/>
              <a:t>At least 1 industry-standard drive w/ removable media</a:t>
            </a:r>
          </a:p>
          <a:p>
            <a:r>
              <a:rPr lang="en-GB" dirty="0"/>
              <a:t>SCSI expansion capability</a:t>
            </a:r>
          </a:p>
          <a:p>
            <a:r>
              <a:rPr lang="en-GB" dirty="0"/>
              <a:t>At least a 68k CPU – preferably upgradable</a:t>
            </a:r>
          </a:p>
          <a:p>
            <a:r>
              <a:rPr lang="en-GB" dirty="0"/>
              <a:t>Min. of 2 serial ports supporting RS 422/485 standard (network-capable)</a:t>
            </a:r>
          </a:p>
          <a:p>
            <a:r>
              <a:rPr lang="en-GB" dirty="0"/>
              <a:t>A board ready to support a GUI system and mouse if required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993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5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5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5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5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13DC4-179E-98EA-56F5-6A38CD961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73798-A473-7BAB-F1AA-66CC4858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EDC’s requirements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CDF88-B6FC-768F-DD7C-2DFD345E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399" y="1841327"/>
            <a:ext cx="8863209" cy="3949874"/>
          </a:xfrm>
        </p:spPr>
        <p:txBody>
          <a:bodyPr>
            <a:normAutofit/>
          </a:bodyPr>
          <a:lstStyle/>
          <a:p>
            <a:r>
              <a:rPr lang="en-GB" dirty="0"/>
              <a:t>Industry-standard operating system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External keyboard / connector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At least 512 kB of RAM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At least 1 industry-standard drive w/ removable media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SCSI expansion capability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At least a 68k CPU – preferably upgradable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Min. of 2 serial ports supporting RS 422/485 standard (network-capable)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 board ready to support a GUI system and mouse if required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C013B1-831E-31BA-585A-30ADD89C3335}"/>
              </a:ext>
            </a:extLst>
          </p:cNvPr>
          <p:cNvSpPr txBox="1"/>
          <p:nvPr/>
        </p:nvSpPr>
        <p:spPr>
          <a:xfrm>
            <a:off x="7089731" y="1646238"/>
            <a:ext cx="4521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HyperBasic OS (HB/OS)</a:t>
            </a:r>
          </a:p>
          <a:p>
            <a:r>
              <a:rPr lang="en-GB" dirty="0"/>
              <a:t>HyperBasic Interpreter</a:t>
            </a:r>
          </a:p>
          <a:p>
            <a:r>
              <a:rPr lang="en-GB" dirty="0"/>
              <a:t>Can export files to other software</a:t>
            </a:r>
          </a:p>
        </p:txBody>
      </p:sp>
    </p:spTree>
    <p:extLst>
      <p:ext uri="{BB962C8B-B14F-4D97-AF65-F5344CB8AC3E}">
        <p14:creationId xmlns:p14="http://schemas.microsoft.com/office/powerpoint/2010/main" val="379277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B80B8-8B3E-D5FE-254F-3BD19BF3E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4EB7F-8879-3901-F9ED-5501ED8C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EDC’s requirements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0ED5B-0DDF-9F4D-2363-C1A033695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399" y="1841327"/>
            <a:ext cx="8863209" cy="3949874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Industry-standard operating system</a:t>
            </a:r>
          </a:p>
          <a:p>
            <a:r>
              <a:rPr lang="en-GB" dirty="0"/>
              <a:t>External keyboard / connector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At least 512 kB of RAM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At least 1 industry-standard drive w/ removable media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SCSI expansion capability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At least a 68k CPU – preferably upgradable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Min. of 2 serial ports supporting RS 422/485 standard (network-capable)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 board ready to support a GUI system and mouse if required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4295A4-B764-2885-B694-FA989CF374D5}"/>
              </a:ext>
            </a:extLst>
          </p:cNvPr>
          <p:cNvSpPr txBox="1"/>
          <p:nvPr/>
        </p:nvSpPr>
        <p:spPr>
          <a:xfrm>
            <a:off x="7728560" y="1646238"/>
            <a:ext cx="39206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Original model has ext. keyboard; evaluation model does not</a:t>
            </a:r>
          </a:p>
          <a:p>
            <a:endParaRPr lang="en-GB" dirty="0"/>
          </a:p>
          <a:p>
            <a:r>
              <a:rPr lang="en-GB" dirty="0"/>
              <a:t>Compromise: sell this computer as two models - a standard and professional version</a:t>
            </a:r>
          </a:p>
        </p:txBody>
      </p:sp>
    </p:spTree>
    <p:extLst>
      <p:ext uri="{BB962C8B-B14F-4D97-AF65-F5344CB8AC3E}">
        <p14:creationId xmlns:p14="http://schemas.microsoft.com/office/powerpoint/2010/main" val="287124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70903-BE78-15A5-8980-E4E30D467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BCEEF-AF0F-6623-7E14-09224BA01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EDC’s requirements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59BFA-2562-FF79-203B-A5ACE162C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399" y="1841327"/>
            <a:ext cx="8863209" cy="3949874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Industry-standard operating system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External keyboard / connector</a:t>
            </a:r>
          </a:p>
          <a:p>
            <a:r>
              <a:rPr lang="en-GB" dirty="0"/>
              <a:t>At least 512 kB of RAM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At least 1 industry-standard drive w/ removable media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SCSI expansion capability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At least a 68k CPU – preferably upgradable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Min. of 2 serial ports supporting RS 422/485 standard (network-capable)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 board ready to support a GUI system and mouse if required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780498-226A-BEB2-5EE2-E6E933E411FE}"/>
              </a:ext>
            </a:extLst>
          </p:cNvPr>
          <p:cNvSpPr txBox="1"/>
          <p:nvPr/>
        </p:nvSpPr>
        <p:spPr>
          <a:xfrm>
            <a:off x="7196203" y="1891430"/>
            <a:ext cx="42337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Original: 4x 128 = 512 kB RAM</a:t>
            </a:r>
          </a:p>
          <a:p>
            <a:r>
              <a:rPr lang="en-GB" dirty="0"/>
              <a:t>Evaluation: 4x 32 = 128 kB RAM</a:t>
            </a:r>
          </a:p>
          <a:p>
            <a:endParaRPr lang="en-GB" dirty="0"/>
          </a:p>
          <a:p>
            <a:r>
              <a:rPr lang="en-GB" dirty="0"/>
              <a:t>Original config for the EDC version</a:t>
            </a:r>
          </a:p>
        </p:txBody>
      </p:sp>
    </p:spTree>
    <p:extLst>
      <p:ext uri="{BB962C8B-B14F-4D97-AF65-F5344CB8AC3E}">
        <p14:creationId xmlns:p14="http://schemas.microsoft.com/office/powerpoint/2010/main" val="129900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EB5B8-4E7B-0EE9-95F6-8975B36E3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0D0EB-A707-432C-5C09-A912AC2A2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EDC’s requirements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9EEA43-8950-B3AA-47F2-4ADA50F15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399" y="1841327"/>
            <a:ext cx="8863209" cy="3949874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Industry-standard operating system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External keyboard / connector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At least 512 kB of RAM</a:t>
            </a:r>
          </a:p>
          <a:p>
            <a:r>
              <a:rPr lang="en-GB" dirty="0"/>
              <a:t>At least 1 industry-standard drive w/ removable media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SCSI expansion capability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At least a 68k CPU – preferably upgradable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Min. of 2 serial ports supporting RS 422/485 standard (network-capable)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 board ready to support a GUI system and mouse if required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805760-997B-D854-FB46-17B3637DFEE0}"/>
              </a:ext>
            </a:extLst>
          </p:cNvPr>
          <p:cNvSpPr txBox="1"/>
          <p:nvPr/>
        </p:nvSpPr>
        <p:spPr>
          <a:xfrm>
            <a:off x="8054236" y="2949879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Original has a floppy / cartridge combo;</a:t>
            </a:r>
          </a:p>
          <a:p>
            <a:r>
              <a:rPr lang="en-GB" dirty="0"/>
              <a:t>Evaluation has 4 cartridges</a:t>
            </a:r>
          </a:p>
          <a:p>
            <a:r>
              <a:rPr lang="en-GB" dirty="0"/>
              <a:t>[board has 2 cart. Slots]</a:t>
            </a:r>
          </a:p>
        </p:txBody>
      </p:sp>
    </p:spTree>
    <p:extLst>
      <p:ext uri="{BB962C8B-B14F-4D97-AF65-F5344CB8AC3E}">
        <p14:creationId xmlns:p14="http://schemas.microsoft.com/office/powerpoint/2010/main" val="2330512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BCB61-38EE-6E27-2610-7F696E28D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6D939-325B-1567-D495-AC330492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EDC’s requirements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26C29-18C8-C498-16BD-F31801DA8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399" y="1841327"/>
            <a:ext cx="8863209" cy="3949874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Industry-standard operating system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External keyboard / connector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At least 512 kB of RAM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At least 1 industry-standard drive w/ removable media</a:t>
            </a:r>
          </a:p>
          <a:p>
            <a:r>
              <a:rPr lang="en-GB" dirty="0"/>
              <a:t>SCSI expansion capability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At least a 68k CPU – preferably upgradable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Min. of 2 serial ports supporting RS 422/485 standard (network-capable)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 board ready to support a GUI system and mouse if required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0498F0-3437-9753-FE94-68B0F51C2EAB}"/>
              </a:ext>
            </a:extLst>
          </p:cNvPr>
          <p:cNvSpPr txBox="1"/>
          <p:nvPr/>
        </p:nvSpPr>
        <p:spPr>
          <a:xfrm>
            <a:off x="7246307" y="3820438"/>
            <a:ext cx="331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Both have these</a:t>
            </a:r>
          </a:p>
        </p:txBody>
      </p:sp>
    </p:spTree>
    <p:extLst>
      <p:ext uri="{BB962C8B-B14F-4D97-AF65-F5344CB8AC3E}">
        <p14:creationId xmlns:p14="http://schemas.microsoft.com/office/powerpoint/2010/main" val="4151607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62306-51B2-867C-70B2-5BF13A4D0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A1F41-2C2A-A881-B731-79FA9D664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EDC’s requirements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D181F-1388-0144-8C5F-A2336DB9D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399" y="1841327"/>
            <a:ext cx="8863209" cy="3949874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Industry-standard operating system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External keyboard / connector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At least 512 kB of RAM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At least 1 industry-standard drive w/ removable media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SCSI expansion capability</a:t>
            </a:r>
          </a:p>
          <a:p>
            <a:r>
              <a:rPr lang="en-GB" dirty="0"/>
              <a:t>At least a 68k CPU – preferably upgradable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Min. of 2 serial ports supporting RS 422/485 standard (network-capable)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 board ready to support a GUI system and mouse if required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84D20E-4544-8DB1-EDCB-80AC8BEE2D55}"/>
              </a:ext>
            </a:extLst>
          </p:cNvPr>
          <p:cNvSpPr txBox="1"/>
          <p:nvPr/>
        </p:nvSpPr>
        <p:spPr>
          <a:xfrm>
            <a:off x="7315200" y="4164904"/>
            <a:ext cx="3945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Original: 68000, socketed</a:t>
            </a:r>
          </a:p>
          <a:p>
            <a:r>
              <a:rPr lang="en-GB" dirty="0"/>
              <a:t>Evaluation: 68008, soldered</a:t>
            </a:r>
          </a:p>
        </p:txBody>
      </p:sp>
    </p:spTree>
    <p:extLst>
      <p:ext uri="{BB962C8B-B14F-4D97-AF65-F5344CB8AC3E}">
        <p14:creationId xmlns:p14="http://schemas.microsoft.com/office/powerpoint/2010/main" val="1877337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4BD86-63EA-16A8-2ED6-5CDFB2BE4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7ED75-243D-C785-D9BB-4986E54EE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EDC’s requirements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DF77B-21D4-D5CA-F92F-A357CB9B3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399" y="1841327"/>
            <a:ext cx="8863209" cy="3949874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Industry-standard operating system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External keyboard / connector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At least 512 kB of RAM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At least 1 industry-standard drive w/ removable media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SCSI expansion capability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At least a 68k CPU – preferably upgradable</a:t>
            </a:r>
          </a:p>
          <a:p>
            <a:r>
              <a:rPr lang="en-GB" dirty="0"/>
              <a:t>Min. of 2 serial ports supporting RS 422/485 standard (network-capable)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 board ready to support a GUI system and mouse if required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CDEB4-5E96-CBB6-0234-0332D63E75AC}"/>
              </a:ext>
            </a:extLst>
          </p:cNvPr>
          <p:cNvSpPr txBox="1"/>
          <p:nvPr/>
        </p:nvSpPr>
        <p:spPr>
          <a:xfrm>
            <a:off x="8768220" y="2961786"/>
            <a:ext cx="30563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Original: 2 ports (16550 UART)</a:t>
            </a:r>
          </a:p>
          <a:p>
            <a:r>
              <a:rPr lang="en-GB" dirty="0"/>
              <a:t>Evaluation: 1 port (SC100)</a:t>
            </a:r>
          </a:p>
          <a:p>
            <a:endParaRPr lang="en-GB" dirty="0"/>
          </a:p>
          <a:p>
            <a:r>
              <a:rPr lang="en-GB" dirty="0"/>
              <a:t>Needs testing</a:t>
            </a:r>
          </a:p>
        </p:txBody>
      </p:sp>
    </p:spTree>
    <p:extLst>
      <p:ext uri="{BB962C8B-B14F-4D97-AF65-F5344CB8AC3E}">
        <p14:creationId xmlns:p14="http://schemas.microsoft.com/office/powerpoint/2010/main" val="121417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A59EA-581F-7B4B-EDB2-7B44D8CEA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84935-25F7-83FC-44A7-23500813E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EDC’s requirements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8A3669-1E84-D3D5-4182-9F99CEE8C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399" y="1841327"/>
            <a:ext cx="8863209" cy="3949874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Industry-standard operating system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External keyboard / connector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At least 512 kB of RAM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At least 1 industry-standard drive w/ removable media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SCSI expansion capability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At least a 68k CPU – preferably upgradable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Min. of 2 serial ports supporting RS 422/485 standard (network-capable)</a:t>
            </a:r>
          </a:p>
          <a:p>
            <a:r>
              <a:rPr lang="en-GB" dirty="0"/>
              <a:t>A board ready to support a GUI system and mouse if required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9C91B4-8B14-F0A5-C71E-FD8CA2E94D3E}"/>
              </a:ext>
            </a:extLst>
          </p:cNvPr>
          <p:cNvSpPr txBox="1"/>
          <p:nvPr/>
        </p:nvSpPr>
        <p:spPr>
          <a:xfrm>
            <a:off x="9118948" y="2505205"/>
            <a:ext cx="2536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Low requirement even by EDC</a:t>
            </a:r>
          </a:p>
          <a:p>
            <a:endParaRPr lang="en-GB" dirty="0"/>
          </a:p>
          <a:p>
            <a:r>
              <a:rPr lang="en-GB" dirty="0"/>
              <a:t>Future-facing</a:t>
            </a:r>
          </a:p>
        </p:txBody>
      </p:sp>
    </p:spTree>
    <p:extLst>
      <p:ext uri="{BB962C8B-B14F-4D97-AF65-F5344CB8AC3E}">
        <p14:creationId xmlns:p14="http://schemas.microsoft.com/office/powerpoint/2010/main" val="111878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1338D-D31C-6B66-AE47-9564473A7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8565C371-17DC-7E36-0489-E8205E35AAA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61243817"/>
              </p:ext>
            </p:extLst>
          </p:nvPr>
        </p:nvGraphicFramePr>
        <p:xfrm>
          <a:off x="1295400" y="1697990"/>
          <a:ext cx="9653270" cy="443055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59280">
                  <a:extLst>
                    <a:ext uri="{9D8B030D-6E8A-4147-A177-3AD203B41FA5}">
                      <a16:colId xmlns:a16="http://schemas.microsoft.com/office/drawing/2014/main" val="374629374"/>
                    </a:ext>
                  </a:extLst>
                </a:gridCol>
                <a:gridCol w="3806190">
                  <a:extLst>
                    <a:ext uri="{9D8B030D-6E8A-4147-A177-3AD203B41FA5}">
                      <a16:colId xmlns:a16="http://schemas.microsoft.com/office/drawing/2014/main" val="409207135"/>
                    </a:ext>
                  </a:extLst>
                </a:gridCol>
                <a:gridCol w="3987800">
                  <a:extLst>
                    <a:ext uri="{9D8B030D-6E8A-4147-A177-3AD203B41FA5}">
                      <a16:colId xmlns:a16="http://schemas.microsoft.com/office/drawing/2014/main" val="3965088416"/>
                    </a:ext>
                  </a:extLst>
                </a:gridCol>
              </a:tblGrid>
              <a:tr h="421164">
                <a:tc>
                  <a:txBody>
                    <a:bodyPr/>
                    <a:lstStyle/>
                    <a:p>
                      <a:r>
                        <a:rPr lang="en-GB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Standard model (sold by Synful)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Professional model (sold by EDC)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37538"/>
                  </a:ext>
                </a:extLst>
              </a:tr>
              <a:tr h="421164">
                <a:tc>
                  <a:txBody>
                    <a:bodyPr/>
                    <a:lstStyle/>
                    <a:p>
                      <a:r>
                        <a:rPr lang="en-GB" dirty="0"/>
                        <a:t>OS + software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dirty="0"/>
                        <a:t>HB/OS + HyperBasic Interpreter + EZ-Suite (+ optional DOS tools) [+optional SynEM for legacy Synful systems]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619790"/>
                  </a:ext>
                </a:extLst>
              </a:tr>
              <a:tr h="421164">
                <a:tc>
                  <a:txBody>
                    <a:bodyPr/>
                    <a:lstStyle/>
                    <a:p>
                      <a:r>
                        <a:rPr lang="en-GB" dirty="0"/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Motorola 68k8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Motorola 68k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523354"/>
                  </a:ext>
                </a:extLst>
              </a:tr>
              <a:tr h="421164">
                <a:tc>
                  <a:txBody>
                    <a:bodyPr/>
                    <a:lstStyle/>
                    <a:p>
                      <a:r>
                        <a:rPr lang="en-GB" dirty="0"/>
                        <a:t>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 kB bootloader + 32 kB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32 kB bootloader + 32 kB 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973100"/>
                  </a:ext>
                </a:extLst>
              </a:tr>
              <a:tr h="421164">
                <a:tc>
                  <a:txBody>
                    <a:bodyPr/>
                    <a:lstStyle/>
                    <a:p>
                      <a:r>
                        <a:rPr lang="en-GB" dirty="0"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128 kB ( = 4x 32 kB)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512 kB ( = 4x 128 kB)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317399"/>
                  </a:ext>
                </a:extLst>
              </a:tr>
              <a:tr h="421164">
                <a:tc>
                  <a:txBody>
                    <a:bodyPr/>
                    <a:lstStyle/>
                    <a:p>
                      <a:r>
                        <a:rPr lang="en-GB" dirty="0"/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 Cartridges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 Cartridges </a:t>
                      </a:r>
                      <a:r>
                        <a:rPr lang="en-GB" sz="1600" dirty="0"/>
                        <a:t>(2 slots, load as needed)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519188"/>
                  </a:ext>
                </a:extLst>
              </a:tr>
              <a:tr h="421164">
                <a:tc>
                  <a:txBody>
                    <a:bodyPr/>
                    <a:lstStyle/>
                    <a:p>
                      <a:r>
                        <a:rPr lang="en-GB" dirty="0"/>
                        <a:t>Expandable?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Yes, </a:t>
                      </a:r>
                      <a:r>
                        <a:rPr lang="en-GB" sz="1200" dirty="0"/>
                        <a:t>w/ separately sold expansion card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Yes, w/ floppies </a:t>
                      </a:r>
                      <a:r>
                        <a:rPr lang="en-GB" sz="1200" dirty="0"/>
                        <a:t>and/or exp. card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372249"/>
                  </a:ext>
                </a:extLst>
              </a:tr>
              <a:tr h="421164">
                <a:tc>
                  <a:txBody>
                    <a:bodyPr/>
                    <a:lstStyle/>
                    <a:p>
                      <a:r>
                        <a:rPr lang="en-GB" dirty="0"/>
                        <a:t>Serial/Net. Ports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dirty="0"/>
                        <a:t>Yes…? Needs testing to confirm, but should be easily rectifiable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596279"/>
                  </a:ext>
                </a:extLst>
              </a:tr>
              <a:tr h="421164">
                <a:tc>
                  <a:txBody>
                    <a:bodyPr/>
                    <a:lstStyle/>
                    <a:p>
                      <a:r>
                        <a:rPr lang="en-GB" dirty="0"/>
                        <a:t>GUI/mouse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/>
                      <a:r>
                        <a:rPr lang="en-GB" sz="1600" dirty="0"/>
                        <a:t>No GUI [unless DOS tools selected]; mouse possible depending on available port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263402"/>
                  </a:ext>
                </a:extLst>
              </a:tr>
              <a:tr h="421164">
                <a:tc>
                  <a:txBody>
                    <a:bodyPr/>
                    <a:lstStyle/>
                    <a:p>
                      <a:r>
                        <a:rPr lang="en-GB"/>
                        <a:t>Est. cost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£165.55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£162.55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563103"/>
                  </a:ext>
                </a:extLst>
              </a:tr>
            </a:tbl>
          </a:graphicData>
        </a:graphic>
      </p:graphicFrame>
      <p:sp>
        <p:nvSpPr>
          <p:cNvPr id="12" name="Title 11">
            <a:extLst>
              <a:ext uri="{FF2B5EF4-FFF2-40B4-BE49-F238E27FC236}">
                <a16:creationId xmlns:a16="http://schemas.microsoft.com/office/drawing/2014/main" id="{228120DA-3C1F-7405-70AE-C422FD4D2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E72439-6164-BA3C-0FB3-3C4D8EEC4C59}"/>
              </a:ext>
            </a:extLst>
          </p:cNvPr>
          <p:cNvSpPr/>
          <p:nvPr/>
        </p:nvSpPr>
        <p:spPr>
          <a:xfrm>
            <a:off x="7008312" y="2805830"/>
            <a:ext cx="1515650" cy="294362"/>
          </a:xfrm>
          <a:prstGeom prst="rect">
            <a:avLst/>
          </a:prstGeom>
          <a:solidFill>
            <a:srgbClr val="89FF79">
              <a:alpha val="2705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A02A93-0967-6E55-BE2D-52AA200A63A8}"/>
              </a:ext>
            </a:extLst>
          </p:cNvPr>
          <p:cNvSpPr/>
          <p:nvPr/>
        </p:nvSpPr>
        <p:spPr>
          <a:xfrm>
            <a:off x="7008311" y="4501822"/>
            <a:ext cx="2830883" cy="294362"/>
          </a:xfrm>
          <a:prstGeom prst="rect">
            <a:avLst/>
          </a:prstGeom>
          <a:solidFill>
            <a:srgbClr val="89FF79">
              <a:alpha val="2705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3B9215-25BC-145C-6EFA-E5C3EBB83A9D}"/>
              </a:ext>
            </a:extLst>
          </p:cNvPr>
          <p:cNvSpPr/>
          <p:nvPr/>
        </p:nvSpPr>
        <p:spPr>
          <a:xfrm>
            <a:off x="7008312" y="3640470"/>
            <a:ext cx="2286000" cy="294362"/>
          </a:xfrm>
          <a:prstGeom prst="rect">
            <a:avLst/>
          </a:prstGeom>
          <a:solidFill>
            <a:srgbClr val="89FF79">
              <a:alpha val="2705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859626-8817-83F5-BDE0-CC5ECEF414E4}"/>
              </a:ext>
            </a:extLst>
          </p:cNvPr>
          <p:cNvSpPr/>
          <p:nvPr/>
        </p:nvSpPr>
        <p:spPr>
          <a:xfrm>
            <a:off x="3231715" y="2160739"/>
            <a:ext cx="776614" cy="294362"/>
          </a:xfrm>
          <a:prstGeom prst="rect">
            <a:avLst/>
          </a:prstGeom>
          <a:solidFill>
            <a:srgbClr val="89FF79">
              <a:alpha val="2705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C1330E-ABE0-ABCE-D74F-0C82D53B1337}"/>
              </a:ext>
            </a:extLst>
          </p:cNvPr>
          <p:cNvSpPr/>
          <p:nvPr/>
        </p:nvSpPr>
        <p:spPr>
          <a:xfrm>
            <a:off x="3187873" y="4908205"/>
            <a:ext cx="6651321" cy="294362"/>
          </a:xfrm>
          <a:prstGeom prst="rect">
            <a:avLst/>
          </a:prstGeom>
          <a:solidFill>
            <a:srgbClr val="FFC000">
              <a:alpha val="2705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FF97E1-78F6-876A-E01C-BBDD30A085BD}"/>
              </a:ext>
            </a:extLst>
          </p:cNvPr>
          <p:cNvSpPr/>
          <p:nvPr/>
        </p:nvSpPr>
        <p:spPr>
          <a:xfrm>
            <a:off x="3187873" y="5336462"/>
            <a:ext cx="3338187" cy="294362"/>
          </a:xfrm>
          <a:prstGeom prst="rect">
            <a:avLst/>
          </a:prstGeom>
          <a:solidFill>
            <a:srgbClr val="FFC000">
              <a:alpha val="2705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050627-C65A-E800-279A-A205A0256339}"/>
              </a:ext>
            </a:extLst>
          </p:cNvPr>
          <p:cNvSpPr/>
          <p:nvPr/>
        </p:nvSpPr>
        <p:spPr>
          <a:xfrm>
            <a:off x="6594952" y="5336462"/>
            <a:ext cx="3989541" cy="294362"/>
          </a:xfrm>
          <a:prstGeom prst="rect">
            <a:avLst/>
          </a:prstGeom>
          <a:solidFill>
            <a:srgbClr val="89FF79">
              <a:alpha val="2705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367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406A-9E43-7121-F3C3-3F0E31B99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Feb84 Evaluation Machine Troubleshooting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EA71F-566B-9FE6-A551-5DECA57E0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752601"/>
            <a:ext cx="9601200" cy="2857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900" b="1" u="sng" dirty="0"/>
              <a:t>Known Issues:</a:t>
            </a:r>
            <a:endParaRPr lang="en-GB" sz="9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BA6ADB4-F938-EB62-66B2-27CED9EF4165}"/>
              </a:ext>
            </a:extLst>
          </p:cNvPr>
          <p:cNvSpPr/>
          <p:nvPr/>
        </p:nvSpPr>
        <p:spPr>
          <a:xfrm>
            <a:off x="1743074" y="2038350"/>
            <a:ext cx="3905250" cy="1181100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b="1" dirty="0">
                <a:solidFill>
                  <a:sysClr val="windowText" lastClr="000000"/>
                </a:solidFill>
              </a:rPr>
              <a:t>HB/OS crashes if logging media is unavailable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ysClr val="windowText" lastClr="000000"/>
                </a:solidFill>
              </a:rPr>
              <a:t>Check that writable media has been installed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ysClr val="windowText" lastClr="000000"/>
                </a:solidFill>
              </a:rPr>
              <a:t>Limit memory load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ysClr val="windowText" lastClr="000000"/>
                </a:solidFill>
              </a:rPr>
              <a:t>Failing that, disconnect the OS cartridge if already connected; reconnect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11DDF2-66F9-2AEF-47ED-6C452860ED65}"/>
              </a:ext>
            </a:extLst>
          </p:cNvPr>
          <p:cNvSpPr/>
          <p:nvPr/>
        </p:nvSpPr>
        <p:spPr>
          <a:xfrm>
            <a:off x="6095998" y="2038350"/>
            <a:ext cx="3667125" cy="1171575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b="1" dirty="0">
                <a:solidFill>
                  <a:sysClr val="windowText" lastClr="000000"/>
                </a:solidFill>
              </a:rPr>
              <a:t>Random resets from electromagnetic interference from the cartridge drives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ysClr val="windowText" lastClr="000000"/>
                </a:solidFill>
              </a:rPr>
              <a:t>Avoid swapping drives out during operation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ysClr val="windowText" lastClr="000000"/>
                </a:solidFill>
              </a:rPr>
              <a:t>Ensure peripherals are properly grounded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3C8A11-A902-685F-6693-1AF239A517C3}"/>
              </a:ext>
            </a:extLst>
          </p:cNvPr>
          <p:cNvSpPr/>
          <p:nvPr/>
        </p:nvSpPr>
        <p:spPr>
          <a:xfrm>
            <a:off x="1743073" y="3819525"/>
            <a:ext cx="3905249" cy="1171575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b="1" dirty="0">
                <a:solidFill>
                  <a:sysClr val="windowText" lastClr="000000"/>
                </a:solidFill>
              </a:rPr>
              <a:t>Memory constraints under multitasking workloads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ysClr val="windowText" lastClr="000000"/>
                </a:solidFill>
              </a:rPr>
              <a:t>Disable non-essential background services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ysClr val="windowText" lastClr="000000"/>
                </a:solidFill>
              </a:rPr>
              <a:t>Limit concurrent applications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218773-E85E-C10E-9DEA-2CD5ECB5C829}"/>
              </a:ext>
            </a:extLst>
          </p:cNvPr>
          <p:cNvSpPr/>
          <p:nvPr/>
        </p:nvSpPr>
        <p:spPr>
          <a:xfrm>
            <a:off x="6153146" y="3819525"/>
            <a:ext cx="3667125" cy="1171575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b="1" dirty="0">
                <a:solidFill>
                  <a:sysClr val="windowText" lastClr="000000"/>
                </a:solidFill>
              </a:rPr>
              <a:t>Configuration lost on reboot?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ysClr val="windowText" lastClr="000000"/>
                </a:solidFill>
              </a:rPr>
              <a:t>Document configurations for repeat 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ysClr val="windowText" lastClr="000000"/>
                </a:solidFill>
              </a:rPr>
              <a:t>Reapply configuration parameters after power cycling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ysClr val="windowText" lastClr="000000"/>
                </a:solidFill>
              </a:rPr>
              <a:t>Persistent storage planned for production config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6685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39A8D-C22A-75EC-931D-1FC64BE4F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A17B-1F6C-55A1-66D8-0705513E1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Updated Timeline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53D6F8-DFA7-141F-0A75-17DA1F312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5727"/>
            <a:ext cx="12192000" cy="260292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431FF4-B2C2-B861-2F75-051F5D421DAB}"/>
              </a:ext>
            </a:extLst>
          </p:cNvPr>
          <p:cNvCxnSpPr>
            <a:cxnSpLocks/>
          </p:cNvCxnSpPr>
          <p:nvPr/>
        </p:nvCxnSpPr>
        <p:spPr>
          <a:xfrm flipV="1">
            <a:off x="8251825" y="1984117"/>
            <a:ext cx="0" cy="2362200"/>
          </a:xfrm>
          <a:prstGeom prst="line">
            <a:avLst/>
          </a:prstGeom>
          <a:ln>
            <a:solidFill>
              <a:schemeClr val="accent6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3268D63-A406-21CC-254F-6919BEB11382}"/>
              </a:ext>
            </a:extLst>
          </p:cNvPr>
          <p:cNvSpPr txBox="1"/>
          <p:nvPr/>
        </p:nvSpPr>
        <p:spPr>
          <a:xfrm>
            <a:off x="1822450" y="1891784"/>
            <a:ext cx="984249" cy="1846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600" b="1" dirty="0"/>
              <a:t>Labour Cost (£)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533270-9831-BD9C-78FE-629BF38258A9}"/>
              </a:ext>
            </a:extLst>
          </p:cNvPr>
          <p:cNvSpPr txBox="1"/>
          <p:nvPr/>
        </p:nvSpPr>
        <p:spPr>
          <a:xfrm>
            <a:off x="120650" y="4535806"/>
            <a:ext cx="159385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GB" sz="1050" b="1" dirty="0"/>
              <a:t>Total Labour Cost (£)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2CBC8F-D98C-FD1B-892D-BB214889BEDD}"/>
              </a:ext>
            </a:extLst>
          </p:cNvPr>
          <p:cNvSpPr txBox="1"/>
          <p:nvPr/>
        </p:nvSpPr>
        <p:spPr>
          <a:xfrm>
            <a:off x="1866900" y="4535806"/>
            <a:ext cx="106680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GB" sz="1050" b="1" dirty="0"/>
              <a:t>303 625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017746-420D-299E-5AC3-D7EA0B80B456}"/>
              </a:ext>
            </a:extLst>
          </p:cNvPr>
          <p:cNvSpPr/>
          <p:nvPr/>
        </p:nvSpPr>
        <p:spPr>
          <a:xfrm>
            <a:off x="10427918" y="3613759"/>
            <a:ext cx="468680" cy="87682"/>
          </a:xfrm>
          <a:prstGeom prst="rect">
            <a:avLst/>
          </a:prstGeom>
          <a:solidFill>
            <a:srgbClr val="3F7F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1A2DFE-195D-622A-5945-83776B8174FA}"/>
              </a:ext>
            </a:extLst>
          </p:cNvPr>
          <p:cNvSpPr txBox="1"/>
          <p:nvPr/>
        </p:nvSpPr>
        <p:spPr>
          <a:xfrm>
            <a:off x="594985" y="5085567"/>
            <a:ext cx="559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Possible delay due to personnel reshuffling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F66CB4-930D-4811-BDC8-638B66E8C7EF}"/>
              </a:ext>
            </a:extLst>
          </p:cNvPr>
          <p:cNvSpPr txBox="1"/>
          <p:nvPr/>
        </p:nvSpPr>
        <p:spPr>
          <a:xfrm>
            <a:off x="695195" y="5517715"/>
            <a:ext cx="6620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Ideal delivery time for professional model – ~31/Dec/1983</a:t>
            </a:r>
          </a:p>
          <a:p>
            <a:r>
              <a:rPr lang="en-GB" dirty="0"/>
              <a:t>For standard model - ~15/Jan/1984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B7A355-59D8-DDF6-2BF9-C8460665471A}"/>
              </a:ext>
            </a:extLst>
          </p:cNvPr>
          <p:cNvSpPr txBox="1"/>
          <p:nvPr/>
        </p:nvSpPr>
        <p:spPr>
          <a:xfrm>
            <a:off x="7252570" y="4647156"/>
            <a:ext cx="3926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Material cost: </a:t>
            </a:r>
          </a:p>
          <a:p>
            <a:r>
              <a:rPr lang="en-GB" dirty="0"/>
              <a:t>2000x £162.55 = £325,100 prof.</a:t>
            </a:r>
          </a:p>
          <a:p>
            <a:r>
              <a:rPr lang="en-GB" dirty="0"/>
              <a:t>3000x £165.55 = £496,650 stand.</a:t>
            </a:r>
          </a:p>
          <a:p>
            <a:r>
              <a:rPr lang="en-GB" dirty="0"/>
              <a:t>TOTAL: £821,750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2F13FB-1A13-6179-6BAE-A2023F09F3E1}"/>
              </a:ext>
            </a:extLst>
          </p:cNvPr>
          <p:cNvSpPr txBox="1"/>
          <p:nvPr/>
        </p:nvSpPr>
        <p:spPr>
          <a:xfrm>
            <a:off x="6933157" y="5794714"/>
            <a:ext cx="4653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Total Revenue: 3000x £399 = £1,197,000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D66209-0D7F-A496-A0B7-DA4E4F17ADDB}"/>
              </a:ext>
            </a:extLst>
          </p:cNvPr>
          <p:cNvSpPr txBox="1"/>
          <p:nvPr/>
        </p:nvSpPr>
        <p:spPr>
          <a:xfrm>
            <a:off x="5774499" y="6169481"/>
            <a:ext cx="5880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Profit: £1,197,000 + (£821,750) + (£303,625) = £71,625</a:t>
            </a:r>
          </a:p>
        </p:txBody>
      </p:sp>
    </p:spTree>
    <p:extLst>
      <p:ext uri="{BB962C8B-B14F-4D97-AF65-F5344CB8AC3E}">
        <p14:creationId xmlns:p14="http://schemas.microsoft.com/office/powerpoint/2010/main" val="335842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CB3B8-7EE5-2F28-3027-E9FAB9EF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844152-596B-68AE-8CA3-4722609CB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164" y="2674306"/>
            <a:ext cx="2898390" cy="3429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616B73-095C-64A6-2196-388560505FC4}"/>
              </a:ext>
            </a:extLst>
          </p:cNvPr>
          <p:cNvSpPr txBox="1"/>
          <p:nvPr/>
        </p:nvSpPr>
        <p:spPr>
          <a:xfrm>
            <a:off x="1242164" y="2329841"/>
            <a:ext cx="2966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Appendix A: material costs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F11015-9745-7BB9-17E9-8B8E0C74D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959" y="2329841"/>
            <a:ext cx="3847974" cy="38300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CE1A73-1E7E-177D-A471-EBF3B3A591AA}"/>
              </a:ext>
            </a:extLst>
          </p:cNvPr>
          <p:cNvSpPr txBox="1"/>
          <p:nvPr/>
        </p:nvSpPr>
        <p:spPr>
          <a:xfrm>
            <a:off x="6356958" y="1973034"/>
            <a:ext cx="3847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Appendix B: extra labour costs</a:t>
            </a:r>
          </a:p>
        </p:txBody>
      </p:sp>
    </p:spTree>
    <p:extLst>
      <p:ext uri="{BB962C8B-B14F-4D97-AF65-F5344CB8AC3E}">
        <p14:creationId xmlns:p14="http://schemas.microsoft.com/office/powerpoint/2010/main" val="24434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D88B8-09A6-CCB1-763A-43CE0E369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75260-64E3-5F1E-8FED-402855932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BBC BASIC (n.d.) </a:t>
            </a:r>
            <a:r>
              <a:rPr lang="en-GB" b="1" i="1" dirty="0">
                <a:solidFill>
                  <a:schemeClr val="tx2"/>
                </a:solidFill>
              </a:rPr>
              <a:t>The Website Dedicated to the BBC BASIC Programming Language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Available at: https://www.bbcbasic.co.uk/bbcbasic.html [Accessed: 19th January 2026]</a:t>
            </a:r>
          </a:p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Cohen, P (2017) </a:t>
            </a:r>
            <a:r>
              <a:rPr lang="en-GB" b="1" i="1" dirty="0">
                <a:solidFill>
                  <a:schemeClr val="tx2"/>
                </a:solidFill>
              </a:rPr>
              <a:t>A History of Removable Computer Storage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Available at: https://www.backblaze.com/blog/history-removable-computer-storage/ [Accessed: 19th January 2026]</a:t>
            </a:r>
          </a:p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IBM (2021) </a:t>
            </a:r>
            <a:r>
              <a:rPr lang="en-GB" b="1" i="1" dirty="0">
                <a:solidFill>
                  <a:schemeClr val="tx2"/>
                </a:solidFill>
              </a:rPr>
              <a:t>BASIC Language Reference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Available at: https://www.ibm.com/docs/en/iis/11.5.0?topic=reference-basic-language [Accessed: 19th January 2026]</a:t>
            </a:r>
          </a:p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TME (2025) </a:t>
            </a:r>
            <a:r>
              <a:rPr lang="en-GB" b="1" i="1" dirty="0">
                <a:solidFill>
                  <a:schemeClr val="tx2"/>
                </a:solidFill>
              </a:rPr>
              <a:t>Electromagnetic Interference (EMI): Identification and Prevention Methods in Electronics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Available at: https://www.tme.eu/gb/news/library-articles/page/68660/electromagnetic-interference-emi-identification-and-prevention-methods-in-electronics/ [Accessed: 19th January 2026]</a:t>
            </a:r>
          </a:p>
          <a:p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Kavinda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L. (2021) </a:t>
            </a:r>
            <a:r>
              <a:rPr lang="en-GB" b="1" i="1" dirty="0">
                <a:solidFill>
                  <a:schemeClr val="tx2"/>
                </a:solidFill>
              </a:rPr>
              <a:t>Interfaces in the 80s: Creating GUIs before it was cool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Accessible at: https://uxdesign.cc/creating-guis-before-it-was-cool-57473c96cd6b [Accessed: 19th January 2026]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5968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1|0.6|0.4|0.4|0.4|0.3|0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8"/>
</p:tagLst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8326_TF03031015.potx" id="{3D03E32A-101D-4991-8040-890457B668DB}" vid="{F1BB8C7C-F58A-4EC0-851B-3944A6AC187F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22022</TotalTime>
  <Words>1228</Words>
  <Application>Microsoft Office PowerPoint</Application>
  <PresentationFormat>Widescreen</PresentationFormat>
  <Paragraphs>187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Diamond Grid 16x9</vt:lpstr>
      <vt:lpstr>The SynPuter Project</vt:lpstr>
      <vt:lpstr>Progress per current plan:</vt:lpstr>
      <vt:lpstr>Current Designs</vt:lpstr>
      <vt:lpstr>EDC’s requirements</vt:lpstr>
      <vt:lpstr>EDC’s requirements</vt:lpstr>
      <vt:lpstr>EDC’s requirements</vt:lpstr>
      <vt:lpstr>EDC’s requirements</vt:lpstr>
      <vt:lpstr>EDC’s requirements</vt:lpstr>
      <vt:lpstr>EDC’s requirements</vt:lpstr>
      <vt:lpstr>EDC’s requirements</vt:lpstr>
      <vt:lpstr>EDC’s requirements</vt:lpstr>
      <vt:lpstr>EDC’s requirements</vt:lpstr>
      <vt:lpstr>Model Comparison</vt:lpstr>
      <vt:lpstr>Feb84 Evaluation Machine Troubleshooting</vt:lpstr>
      <vt:lpstr>Updated Timeline</vt:lpstr>
      <vt:lpstr>Thank you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Tahmeed Ali</dc:creator>
  <cp:lastModifiedBy>Tahmeed Ali</cp:lastModifiedBy>
  <cp:revision>10</cp:revision>
  <dcterms:created xsi:type="dcterms:W3CDTF">2026-01-03T18:06:21Z</dcterms:created>
  <dcterms:modified xsi:type="dcterms:W3CDTF">2026-01-25T22:30:00Z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